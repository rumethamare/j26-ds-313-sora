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panel's comments from the proposal presentation and how each was addressed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Problem, its impact, and who benefits. Source: TAF sections 4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excellence of the overall solution: C1 and C3 run in parallel on the audio and are fused by timestamp; C2 cleans and summarises; C4 redacts. Play the 1-2 minute video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component. Keep the whole component within exactly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Problem: Whisper fails on Singlish. Prototype: fine-tuned Whisper, safeguards, LID, CTC timestamps, live web demo. Results: WER 1.08 to 0.44 on test clips, 0.37 on whole recordings streamed live; LID 98.4%; switch F1 0.95; latency 1.5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Problem: Whisper fails on Singlish. Prototype: fine-tuned Whisper, safeguards, LID, CTC timestamps, live web demo. Results: WER 1.08 to 0.44 on test clips, 0.37 on whole recordings streamed live; LID 98.4%; switch F1 0.95; latency 1.5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component. Keep the whole component within exactly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Problem: translators and summarisers fail on Singlish. Prototype: normaliser, fine-tuned NLLB-600M, QLoRA Qwen2.5-3B. Results on dev: chrF++ 56.3 (en) and 51.1 (si); ROUGE-L 43.7; action F1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Problem: translators and summarisers fail on Singlish. Prototype: normaliser, fine-tuned NLLB-600M, QLoRA Qwen2.5-3B. Results on dev: chrF++ 56.3 (en) and 51.1 (si); ROUGE-L 43.7; action F1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component. Keep the whole component within exactly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Problem: diarizers degrade on real overlapping conversation. Prototype: offline demo app with who-spoke-when and benchmark tabs. Results: 21.27% DER on 8 unseen panel clips, 7.50% on TEST, runs offline on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Problem: diarizers degrade on real overlapping conversation. Prototype: offline demo app with who-spoke-when and benchmark tabs. Results: 21.27% DER on 8 unseen panel clips, 7.50% on TEST, runs offline on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component. Keep the whole component within exactly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Problem: English PII tools miss Sinhala names and NIC formats. Prototype: rules + XLM-RoBERTa + cross-script linking, offline demo. Results: F1 0.231 to 0.851, recall 0.938, 95.7% fully hidden, linking 0.933.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Problem: English PII tools miss Sinhala names and NIC formats. Prototype: rules + XLM-RoBERTa + cross-script linking, offline demo. Results: F1 0.231 to 0.851, recall 0.938, 95.7% fully hidden, linking 0.933.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commercialization content: confirm the persona and cost-recovery model with the team, and add a sourced market-size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A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pic>
        <p:nvPicPr>
          <p:cNvPr id="3" name="Image 0" descr="C:\Users\rumet\AppData\Local\Temp\claude\f--SLIIT-Y4-S1-Research-J26-DS-313-SORA\5dc2410c-f257-47aa-9296-8e06375e9cf8\scratchpad\deck\sli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5080"/>
            <a:ext cx="2514600" cy="4937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298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10/17/2026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MBER_C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pic>
        <p:nvPicPr>
          <p:cNvPr id="3" name="Image 0" descr="C:\Users\rumet\AppData\Local\Temp\claude\f--SLIIT-Y4-S1-Research-J26-DS-313-SORA\5dc2410c-f257-47aa-9296-8e06375e9cf8\scratchpad\deck\sli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5080"/>
            <a:ext cx="2514600" cy="4937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298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10/17/2026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2697480" y="64739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IT23151888   |   H.J.R.S. Amarasiri   |   J26-DS-313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MBER_C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pic>
        <p:nvPicPr>
          <p:cNvPr id="3" name="Image 0" descr="C:\Users\rumet\AppData\Local\Temp\claude\f--SLIIT-Y4-S1-Research-J26-DS-313-SORA\5dc2410c-f257-47aa-9296-8e06375e9cf8\scratchpad\deck\sli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5080"/>
            <a:ext cx="2514600" cy="4937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298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10/17/2026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2697480" y="64739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IT23145948   |   A.I. Vithanage   |   J26-DS-313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MBER_C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pic>
        <p:nvPicPr>
          <p:cNvPr id="3" name="Image 0" descr="C:\Users\rumet\AppData\Local\Temp\claude\f--SLIIT-Y4-S1-Research-J26-DS-313-SORA\5dc2410c-f257-47aa-9296-8e06375e9cf8\scratchpad\deck\sli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5080"/>
            <a:ext cx="2514600" cy="4937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298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10/17/2026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2697480" y="64739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IT23172678   |   D.M.S.D. Dissanayake   |   J26-DS-313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MBER_C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pic>
        <p:nvPicPr>
          <p:cNvPr id="3" name="Image 0" descr="C:\Users\rumet\AppData\Local\Temp\claude\f--SLIIT-Y4-S1-Research-J26-DS-313-SORA\5dc2410c-f257-47aa-9296-8e06375e9cf8\scratchpad\deck\sli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5080"/>
            <a:ext cx="2514600" cy="4937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298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10/17/2026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2697480" y="64739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IT23247390   |   O.S. Jayathilaka   |   J26-DS-313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Privacy-Preserving, Offline Sinhala-English Code-Mixed Conversation Understanding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the proposal and how the team addressed them</a:t>
            </a:r>
            <a:endParaRPr lang="en-US" sz="2000" dirty="0"/>
          </a:p>
        </p:txBody>
      </p:sp>
      <p:graphicFrame>
        <p:nvGraphicFramePr>
          <p:cNvPr id="2" name="com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937760"/>
                <a:gridCol w="5760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comment on the proposal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addressed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7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5A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[Add panel comment 1]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5A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[Add what was changed, and where it is shown in this presentation]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B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5A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[Add panel comment 2]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5A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[Add what was changed, and where it is shown in this presentation]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B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5A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[Add panel comment 3]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5A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[Add what was changed, and where it is shown in this presentation]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B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5A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[Add panel comment 4]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5A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[Add what was changed, and where it is shown in this presentation]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B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Privacy-Preserving, Offline Sinhala-English Code-Mixed Conversation Understanding System</a:t>
            </a:r>
            <a:endParaRPr lang="en-US" sz="2600" dirty="0"/>
          </a:p>
        </p:txBody>
      </p:sp>
      <p:sp>
        <p:nvSpPr>
          <p:cNvPr id="3" name="problem"/>
          <p:cNvSpPr/>
          <p:nvPr/>
        </p:nvSpPr>
        <p:spPr>
          <a:xfrm>
            <a:off x="457200" y="12801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 Lankan meetings switch between Sinhala and English mid-sentence (</a:t>
            </a:r>
            <a:pPr indent="0" marL="0">
              <a:buNone/>
            </a:pPr>
            <a:r>
              <a:rPr lang="en-US" sz="1400" i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“meeting eka Friday ekata reschedule karamu”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 Cloud tools such as Gemini understand it but need the audio uploaded; on-device tools are English-only. No system transcribes, attributes speakers, translates, summarises and removes personal data from such conversations while staying offline.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7" name="impact Legal / ethical"/>
          <p:cNvSpPr/>
          <p:nvPr/>
        </p:nvSpPr>
        <p:spPr>
          <a:xfrm>
            <a:off x="457200" y="3017520"/>
            <a:ext cx="2640330" cy="1691640"/>
          </a:xfrm>
          <a:prstGeom prst="roundRect">
            <a:avLst>
              <a:gd name="adj" fmla="val 432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27248"/>
            <a:ext cx="22745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ethical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74720"/>
            <a:ext cx="22745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Uploading privileged bilingual audio can breach confidentiality; the PDPA No. 9 of 2022 (amended 2025) names anonymisation, yet no Sinhala-English tool exists</a:t>
            </a:r>
            <a:endParaRPr lang="en-US" sz="1200" dirty="0"/>
          </a:p>
        </p:txBody>
      </p:sp>
      <p:sp>
        <p:nvSpPr>
          <p:cNvPr id="10" name="impact Economic"/>
          <p:cNvSpPr/>
          <p:nvPr/>
        </p:nvSpPr>
        <p:spPr>
          <a:xfrm>
            <a:off x="3326130" y="3017520"/>
            <a:ext cx="2640330" cy="1691640"/>
          </a:xfrm>
          <a:prstGeom prst="roundRect">
            <a:avLst>
              <a:gd name="adj" fmla="val 432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9010" y="3127248"/>
            <a:ext cx="22745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09010" y="3474720"/>
            <a:ext cx="22745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Transcribing, minuting and redacting bilingual meetings by hand is slow and costly; one missed name is a breach</a:t>
            </a:r>
            <a:endParaRPr lang="en-US" sz="1200" dirty="0"/>
          </a:p>
        </p:txBody>
      </p:sp>
      <p:sp>
        <p:nvSpPr>
          <p:cNvPr id="13" name="impact Technical"/>
          <p:cNvSpPr/>
          <p:nvPr/>
        </p:nvSpPr>
        <p:spPr>
          <a:xfrm>
            <a:off x="6195060" y="3017520"/>
            <a:ext cx="2640330" cy="1691640"/>
          </a:xfrm>
          <a:prstGeom prst="roundRect">
            <a:avLst>
              <a:gd name="adj" fmla="val 432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7940" y="3127248"/>
            <a:ext cx="22745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77940" y="3474720"/>
            <a:ext cx="22745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Code-switching, low-resource Sinhala, conversational noise and limited on-device compute</a:t>
            </a:r>
            <a:endParaRPr lang="en-US" sz="1200" dirty="0"/>
          </a:p>
        </p:txBody>
      </p:sp>
      <p:sp>
        <p:nvSpPr>
          <p:cNvPr id="16" name="impact Social"/>
          <p:cNvSpPr/>
          <p:nvPr/>
        </p:nvSpPr>
        <p:spPr>
          <a:xfrm>
            <a:off x="9063990" y="3017520"/>
            <a:ext cx="2640330" cy="1691640"/>
          </a:xfrm>
          <a:prstGeom prst="roundRect">
            <a:avLst>
              <a:gd name="adj" fmla="val 432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46870" y="3127248"/>
            <a:ext cx="22745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46870" y="3474720"/>
            <a:ext cx="22745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Sinhala-first tool brings speech AI to a language mainstream products under-serve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benefits: organisations that cannot send audio to the cloud</a:t>
            </a:r>
            <a:endParaRPr lang="en-US" sz="1600" dirty="0"/>
          </a:p>
        </p:txBody>
      </p:sp>
      <p:sp>
        <p:nvSpPr>
          <p:cNvPr id="20" name="who Legal teams"/>
          <p:cNvSpPr/>
          <p:nvPr/>
        </p:nvSpPr>
        <p:spPr>
          <a:xfrm>
            <a:off x="457200" y="53035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B2A7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5303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teams</a:t>
            </a:r>
            <a:endParaRPr lang="en-US" sz="1400" dirty="0"/>
          </a:p>
        </p:txBody>
      </p:sp>
      <p:sp>
        <p:nvSpPr>
          <p:cNvPr id="22" name="who Banks, insurers"/>
          <p:cNvSpPr/>
          <p:nvPr/>
        </p:nvSpPr>
        <p:spPr>
          <a:xfrm>
            <a:off x="2743200" y="53035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B2A7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5303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Banks, insurers</a:t>
            </a:r>
            <a:endParaRPr lang="en-US" sz="1400" dirty="0"/>
          </a:p>
        </p:txBody>
      </p:sp>
      <p:sp>
        <p:nvSpPr>
          <p:cNvPr id="24" name="who Hospitals"/>
          <p:cNvSpPr/>
          <p:nvPr/>
        </p:nvSpPr>
        <p:spPr>
          <a:xfrm>
            <a:off x="5029200" y="53035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B2A7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0" y="5303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</a:t>
            </a:r>
            <a:endParaRPr lang="en-US" sz="1400" dirty="0"/>
          </a:p>
        </p:txBody>
      </p:sp>
      <p:sp>
        <p:nvSpPr>
          <p:cNvPr id="26" name="who Law enforcement"/>
          <p:cNvSpPr/>
          <p:nvPr/>
        </p:nvSpPr>
        <p:spPr>
          <a:xfrm>
            <a:off x="7315200" y="53035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B2A7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5303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 enforcement</a:t>
            </a:r>
            <a:endParaRPr lang="en-US" sz="1400" dirty="0"/>
          </a:p>
        </p:txBody>
      </p:sp>
      <p:sp>
        <p:nvSpPr>
          <p:cNvPr id="28" name="who Government &amp; boardrooms"/>
          <p:cNvSpPr/>
          <p:nvPr/>
        </p:nvSpPr>
        <p:spPr>
          <a:xfrm>
            <a:off x="9601200" y="53035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B2A7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0" y="5303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&amp; boardrooms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9253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 SDG 9 (innovation), SDG 10 (reduced inequalities) and SDG 16 (strong institutions)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Privacy-Preserving, Offline Sinhala-English Code-Mixed Conversation Understanding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the overall solution: a four-stage pipeline that runs entirely on the device</a:t>
            </a:r>
            <a:endParaRPr lang="en-US" sz="1800" dirty="0"/>
          </a:p>
        </p:txBody>
      </p:sp>
      <p:sp>
        <p:nvSpPr>
          <p:cNvPr id="4" name="input audio"/>
          <p:cNvSpPr/>
          <p:nvPr/>
        </p:nvSpPr>
        <p:spPr>
          <a:xfrm>
            <a:off x="457200" y="256032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or recorded audio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reduction, segmentation</a:t>
            </a:r>
            <a:endParaRPr lang="en-US" sz="1300" dirty="0"/>
          </a:p>
        </p:txBody>
      </p:sp>
      <p:sp>
        <p:nvSpPr>
          <p:cNvPr id="6" name="C1 box"/>
          <p:cNvSpPr/>
          <p:nvPr/>
        </p:nvSpPr>
        <p:spPr>
          <a:xfrm>
            <a:off x="2148840" y="187452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E3F3F4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7" name="badge C1"/>
          <p:cNvSpPr/>
          <p:nvPr/>
        </p:nvSpPr>
        <p:spPr>
          <a:xfrm>
            <a:off x="2286000" y="20116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984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+ language ID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331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Words, each tagged Sinhala / English / Tamil, with timestamps</a:t>
            </a:r>
            <a:endParaRPr lang="en-US" sz="1200" dirty="0"/>
          </a:p>
        </p:txBody>
      </p:sp>
      <p:sp>
        <p:nvSpPr>
          <p:cNvPr id="11" name="C3 box"/>
          <p:cNvSpPr/>
          <p:nvPr/>
        </p:nvSpPr>
        <p:spPr>
          <a:xfrm>
            <a:off x="2148840" y="329184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8EDE2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12" name="badge C3"/>
          <p:cNvSpPr/>
          <p:nvPr/>
        </p:nvSpPr>
        <p:spPr>
          <a:xfrm>
            <a:off x="2286000" y="3429000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spoke when, from the voice signal, incl. overlap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1874520" y="2743200"/>
            <a:ext cx="274320" cy="411480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874520" y="3154680"/>
            <a:ext cx="274320" cy="960120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74920" y="2441448"/>
            <a:ext cx="457200" cy="713232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074920" y="3154680"/>
            <a:ext cx="457200" cy="704088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</a:ln>
        </p:spPr>
      </p:sp>
      <p:sp>
        <p:nvSpPr>
          <p:cNvPr id="20" name="fuse"/>
          <p:cNvSpPr/>
          <p:nvPr/>
        </p:nvSpPr>
        <p:spPr>
          <a:xfrm>
            <a:off x="5486400" y="2926080"/>
            <a:ext cx="457200" cy="457200"/>
          </a:xfrm>
          <a:prstGeom prst="ellipse">
            <a:avLst/>
          </a:prstGeom>
          <a:solidFill>
            <a:srgbClr val="1B2A72"/>
          </a:solidFill>
          <a:ln w="12700">
            <a:solidFill>
              <a:srgbClr val="1B2A7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 by 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3154680"/>
            <a:ext cx="411480" cy="0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23" name="C2 box"/>
          <p:cNvSpPr/>
          <p:nvPr/>
        </p:nvSpPr>
        <p:spPr>
          <a:xfrm>
            <a:off x="6355080" y="2560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E9F5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24" name="badge C2"/>
          <p:cNvSpPr/>
          <p:nvPr/>
        </p:nvSpPr>
        <p:spPr>
          <a:xfrm>
            <a:off x="6492240" y="2697480"/>
            <a:ext cx="457200" cy="45720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+ summarise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017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Single-language record (EN / SI), summary, action items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3154680"/>
            <a:ext cx="365760" cy="0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29" name="C4 box"/>
          <p:cNvSpPr/>
          <p:nvPr/>
        </p:nvSpPr>
        <p:spPr>
          <a:xfrm>
            <a:off x="9326880" y="25603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7E4E8"/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30" name="badge C4"/>
          <p:cNvSpPr/>
          <p:nvPr/>
        </p:nvSpPr>
        <p:spPr>
          <a:xfrm>
            <a:off x="9464040" y="2697480"/>
            <a:ext cx="457200" cy="457200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640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012680" y="2670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01268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Removes names, NIC, phone, addresses; secure re-ID map</a:t>
            </a:r>
            <a:endParaRPr lang="en-US" sz="1200" dirty="0"/>
          </a:p>
        </p:txBody>
      </p:sp>
      <p:sp>
        <p:nvSpPr>
          <p:cNvPr id="34" name="output Live captions"/>
          <p:cNvSpPr/>
          <p:nvPr/>
        </p:nvSpPr>
        <p:spPr>
          <a:xfrm>
            <a:off x="2148840" y="4572000"/>
            <a:ext cx="2176272" cy="914400"/>
          </a:xfrm>
          <a:prstGeom prst="roundRect">
            <a:avLst>
              <a:gd name="adj" fmla="val 8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86000" y="4645152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captions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streamed from C1, speaker labels from C3</a:t>
            </a:r>
            <a:endParaRPr lang="en-US" sz="1300" dirty="0"/>
          </a:p>
        </p:txBody>
      </p:sp>
      <p:sp>
        <p:nvSpPr>
          <p:cNvPr id="36" name="output Clean record + summary"/>
          <p:cNvSpPr/>
          <p:nvPr/>
        </p:nvSpPr>
        <p:spPr>
          <a:xfrm>
            <a:off x="4507992" y="4572000"/>
            <a:ext cx="2176272" cy="914400"/>
          </a:xfrm>
          <a:prstGeom prst="roundRect">
            <a:avLst>
              <a:gd name="adj" fmla="val 8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45152" y="4645152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record + summary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or Sinhala, with action items (C2)</a:t>
            </a:r>
            <a:endParaRPr lang="en-US" sz="1300" dirty="0"/>
          </a:p>
        </p:txBody>
      </p:sp>
      <p:sp>
        <p:nvSpPr>
          <p:cNvPr id="38" name="output Shareable redacted output"/>
          <p:cNvSpPr/>
          <p:nvPr/>
        </p:nvSpPr>
        <p:spPr>
          <a:xfrm>
            <a:off x="6867144" y="4572000"/>
            <a:ext cx="2176272" cy="914400"/>
          </a:xfrm>
          <a:prstGeom prst="roundRect">
            <a:avLst>
              <a:gd name="adj" fmla="val 8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04304" y="4645152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Shareable redacted output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a restricted re-identification map (C4)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623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enforced twice: nothing leaves the laptop, and C4 strips identifiers before anything is shared. Models are LoRA/QLoRA fine-tuned and quantized to fit an 8 GB laptop GPU or CPU.</a:t>
            </a:r>
            <a:endParaRPr lang="en-US" sz="1200" dirty="0"/>
          </a:p>
        </p:txBody>
      </p:sp>
      <p:sp>
        <p:nvSpPr>
          <p:cNvPr id="42" name="TO FILL"/>
          <p:cNvSpPr/>
          <p:nvPr/>
        </p:nvSpPr>
        <p:spPr>
          <a:xfrm>
            <a:off x="9326880" y="457200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FF1B8"/>
          </a:solidFill>
          <a:ln w="12700">
            <a:solidFill>
              <a:srgbClr val="E0B400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9464040" y="45720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minute video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[insert or link the demo video here]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C1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11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H.J.R.S. Amarasiri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IT23151888</a:t>
            </a:r>
            <a:endParaRPr lang="en-US" sz="1600" dirty="0"/>
          </a:p>
        </p:txBody>
      </p:sp>
      <p:sp>
        <p:nvSpPr>
          <p:cNvPr id="6" name="photo cage"/>
          <p:cNvSpPr/>
          <p:nvPr/>
        </p:nvSpPr>
        <p:spPr>
          <a:xfrm>
            <a:off x="8732520" y="411480"/>
            <a:ext cx="3017520" cy="3108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15400" y="41148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professional photo here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of the individual component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0896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Code-Switched Speech Recognition with Per-Token Language Identification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Specialization: </a:t>
            </a:r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cluster: </a:t>
            </a:r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of Excellence for AI (CoEAI)</a:t>
            </a:r>
            <a:endParaRPr lang="en-US" sz="18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Code-Switched Speech Recognition with Per-Token Language Identification</a:t>
            </a:r>
            <a:endParaRPr lang="en-US" sz="2800" dirty="0"/>
          </a:p>
        </p:txBody>
      </p:sp>
      <p:sp>
        <p:nvSpPr>
          <p:cNvPr id="3" name="sub-problem"/>
          <p:cNvSpPr/>
          <p:nvPr/>
        </p:nvSpPr>
        <p:spPr>
          <a:xfrm>
            <a:off x="457200" y="12344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3F3F4"/>
          </a:solidFill>
          <a:ln w="12700">
            <a:solidFill>
              <a:srgbClr val="E3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solution addresses the sub-problem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Off-the-shelf Whisper cannot transcribe Singlish: large-v3 makes more errors than there are words (WER 1.08) and small loops endlessly. Downstream components need every word tagged Sinhala / English / Tamil with a timestamp, not a plain transcript.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7" name="flow 1"/>
          <p:cNvSpPr/>
          <p:nvPr/>
        </p:nvSpPr>
        <p:spPr>
          <a:xfrm>
            <a:off x="457200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Microphone or recording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5792" y="3383280"/>
            <a:ext cx="201168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0" name="flow 2"/>
          <p:cNvSpPr/>
          <p:nvPr/>
        </p:nvSpPr>
        <p:spPr>
          <a:xfrm>
            <a:off x="2374392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7544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detection (Silero VAD)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2984" y="3383280"/>
            <a:ext cx="201168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3" name="flow 3"/>
          <p:cNvSpPr/>
          <p:nvPr/>
        </p:nvSpPr>
        <p:spPr>
          <a:xfrm>
            <a:off x="4291584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64736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Whisper (LoRA) + loop and number safeguards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0176" y="3383280"/>
            <a:ext cx="201168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6" name="flow 4"/>
          <p:cNvSpPr/>
          <p:nvPr/>
        </p:nvSpPr>
        <p:spPr>
          <a:xfrm>
            <a:off x="6208776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tag per word (rules + fastText)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97368" y="3383280"/>
            <a:ext cx="201168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9" name="flow 5"/>
          <p:cNvSpPr/>
          <p:nvPr/>
        </p:nvSpPr>
        <p:spPr>
          <a:xfrm>
            <a:off x="8125968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99120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timestamps (CTC alignment)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14560" y="3383280"/>
            <a:ext cx="201168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2" name="flow 6"/>
          <p:cNvSpPr/>
          <p:nvPr/>
        </p:nvSpPr>
        <p:spPr>
          <a:xfrm>
            <a:off x="10043160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16312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stream → C2, C3, C4</a:t>
            </a:r>
            <a:endParaRPr lang="en-US" sz="1200" dirty="0"/>
          </a:p>
        </p:txBody>
      </p:sp>
      <p:sp>
        <p:nvSpPr>
          <p:cNvPr id="24" name="stat 1"/>
          <p:cNvSpPr/>
          <p:nvPr/>
        </p:nvSpPr>
        <p:spPr>
          <a:xfrm>
            <a:off x="45720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 → 0.44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error rate, held-out test clips (large-v3)</a:t>
            </a:r>
            <a:endParaRPr lang="en-US" sz="1200" dirty="0"/>
          </a:p>
        </p:txBody>
      </p:sp>
      <p:sp>
        <p:nvSpPr>
          <p:cNvPr id="27" name="stat 2"/>
          <p:cNvSpPr/>
          <p:nvPr/>
        </p:nvSpPr>
        <p:spPr>
          <a:xfrm>
            <a:off x="333756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words tagged with the right language*</a:t>
            </a:r>
            <a:endParaRPr lang="en-US" sz="1200" dirty="0"/>
          </a:p>
        </p:txBody>
      </p:sp>
      <p:sp>
        <p:nvSpPr>
          <p:cNvPr id="30" name="stat 3"/>
          <p:cNvSpPr/>
          <p:nvPr/>
        </p:nvSpPr>
        <p:spPr>
          <a:xfrm>
            <a:off x="621792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switch-point F1 (where the language changes)</a:t>
            </a:r>
            <a:endParaRPr lang="en-US" sz="1200" dirty="0"/>
          </a:p>
        </p:txBody>
      </p:sp>
      <p:sp>
        <p:nvSpPr>
          <p:cNvPr id="33" name="stat 4"/>
          <p:cNvSpPr/>
          <p:nvPr/>
        </p:nvSpPr>
        <p:spPr>
          <a:xfrm>
            <a:off x="909828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116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s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end of a pause to text, live on a laptop GPU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*hybrid classifier on gold words, numerals excluded; 25,582 words, 66 recordings, 5-fold by recording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Code-Switched Speech Recognition with Per-Token Language Identification</a:t>
            </a:r>
            <a:endParaRPr lang="en-US" sz="2800" dirty="0"/>
          </a:p>
        </p:txBody>
      </p:sp>
      <p:sp>
        <p:nvSpPr>
          <p:cNvPr id="3" name="User requirements addressed"/>
          <p:cNvSpPr/>
          <p:nvPr/>
        </p:nvSpPr>
        <p:spPr>
          <a:xfrm>
            <a:off x="45720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requirements addressed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2140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fully offline on an 8 GB laptop GPU; nothing is uploaded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captions about 1.5 s after each pause (median), in a browser page or terminal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word carries language, start/end time, switch flag and confidence, in the shared token schema C2–C4 read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such as NICs and phone numbers transcribed without invented digits</a:t>
            </a:r>
            <a:endParaRPr lang="en-US" sz="1400" dirty="0"/>
          </a:p>
        </p:txBody>
      </p:sp>
      <p:sp>
        <p:nvSpPr>
          <p:cNvPr id="8" name="Design excellence / contribution"/>
          <p:cNvSpPr/>
          <p:nvPr/>
        </p:nvSpPr>
        <p:spPr>
          <a:xfrm>
            <a:off x="429768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480560" y="146304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excellence / contribution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2140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fine-tuning of Whisper small / medium / large-v3 on the team corpus, with speed + SpecAugment augmentation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safeguards derived from the gold data (0 of 983 gold clips falsely flagged), re-decoding only the bad output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times by CTC forced alignment: median error 60 ms vs 270 ms for Whisper's own estimate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decoding module shared by the test set and the live system, so measured accuracy is live accuracy</a:t>
            </a:r>
            <a:endParaRPr lang="en-US" sz="1400" dirty="0"/>
          </a:p>
        </p:txBody>
      </p:sp>
      <p:sp>
        <p:nvSpPr>
          <p:cNvPr id="13" name="User feedback on the prototype"/>
          <p:cNvSpPr/>
          <p:nvPr/>
        </p:nvSpPr>
        <p:spPr>
          <a:xfrm>
            <a:off x="813816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feedback frame"/>
          <p:cNvSpPr/>
          <p:nvPr/>
        </p:nvSpPr>
        <p:spPr>
          <a:xfrm>
            <a:off x="813816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9E4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8321040" y="146304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on the prototype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internal testing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304288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microphone tests: single spoken digits produced invented counting runs (“0 7 4 3 2 1…”) → added a digit-plausibility check and longer pauses after numbers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 needed exact word times → added CTC alignment, run after the text appears so captions are not delayed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found the gold word times (WhisperX) are wrong around numbers → reported to the dataset team</a:t>
            </a:r>
            <a:endParaRPr lang="en-US" sz="1400" dirty="0"/>
          </a:p>
        </p:txBody>
      </p:sp>
      <p:sp>
        <p:nvSpPr>
          <p:cNvPr id="20" name="TO FILL"/>
          <p:cNvSpPr/>
          <p:nvPr/>
        </p:nvSpPr>
        <p:spPr>
          <a:xfrm>
            <a:off x="8138160" y="55778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1B8"/>
          </a:solidFill>
          <a:ln w="12700">
            <a:solidFill>
              <a:srgbClr val="E0B4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275320" y="5577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 feedback from real users / supervisor]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C2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11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A.I. Vithanage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IT23145948</a:t>
            </a:r>
            <a:endParaRPr lang="en-US" sz="1600" dirty="0"/>
          </a:p>
        </p:txBody>
      </p:sp>
      <p:sp>
        <p:nvSpPr>
          <p:cNvPr id="6" name="photo cage"/>
          <p:cNvSpPr/>
          <p:nvPr/>
        </p:nvSpPr>
        <p:spPr>
          <a:xfrm>
            <a:off x="8732520" y="411480"/>
            <a:ext cx="3017520" cy="3108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15400" y="41148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professional photo here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of the individual component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0896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Transcript Cleaner, Cross-Lingual Renderer and Summariser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Specialization: </a:t>
            </a:r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cluster: </a:t>
            </a:r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of Excellence for AI (CoEAI)</a:t>
            </a:r>
            <a:endParaRPr lang="en-US" sz="18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Transcript Cleaner, Cross-Lingual Renderer and Summariser</a:t>
            </a:r>
            <a:endParaRPr lang="en-US" sz="2800" dirty="0"/>
          </a:p>
        </p:txBody>
      </p:sp>
      <p:sp>
        <p:nvSpPr>
          <p:cNvPr id="3" name="sub-problem"/>
          <p:cNvSpPr/>
          <p:nvPr/>
        </p:nvSpPr>
        <p:spPr>
          <a:xfrm>
            <a:off x="457200" y="12344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EE9F5"/>
          </a:solidFill>
          <a:ln w="12700">
            <a:solidFill>
              <a:srgbClr val="EEE9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solution addresses the sub-problem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translators and LLM summarisers fail on spoken Singlish: intra-word mixing (“meeting-eka”), dropped Sinhala, sensitivity to ASR errors, and missed indirect commitments such as “balamu” and “karamu”.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7" name="flow 1"/>
          <p:cNvSpPr/>
          <p:nvPr/>
        </p:nvSpPr>
        <p:spPr>
          <a:xfrm>
            <a:off x="457200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Speaker-attributed transcript (C1 + C3)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5792" y="3383280"/>
            <a:ext cx="201168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0" name="flow 2"/>
          <p:cNvSpPr/>
          <p:nvPr/>
        </p:nvSpPr>
        <p:spPr>
          <a:xfrm>
            <a:off x="2374392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7544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Normalise: spoken digits, spelling variants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2984" y="3383280"/>
            <a:ext cx="201168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3" name="flow 3"/>
          <p:cNvSpPr/>
          <p:nvPr/>
        </p:nvSpPr>
        <p:spPr>
          <a:xfrm>
            <a:off x="4291584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64736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NLLB-600M translation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0176" y="3383280"/>
            <a:ext cx="201168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6" name="flow 4"/>
          <p:cNvSpPr/>
          <p:nvPr/>
        </p:nvSpPr>
        <p:spPr>
          <a:xfrm>
            <a:off x="6208776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English and Sinhala record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97368" y="3383280"/>
            <a:ext cx="201168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9" name="flow 5"/>
          <p:cNvSpPr/>
          <p:nvPr/>
        </p:nvSpPr>
        <p:spPr>
          <a:xfrm>
            <a:off x="8125968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99120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 Qwen2.5-3B: summary + action items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14560" y="3383280"/>
            <a:ext cx="201168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22" name="flow 6"/>
          <p:cNvSpPr/>
          <p:nvPr/>
        </p:nvSpPr>
        <p:spPr>
          <a:xfrm>
            <a:off x="10043160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16312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C4 redaction</a:t>
            </a:r>
            <a:endParaRPr lang="en-US" sz="1200" dirty="0"/>
          </a:p>
        </p:txBody>
      </p:sp>
      <p:sp>
        <p:nvSpPr>
          <p:cNvPr id="24" name="stat 1"/>
          <p:cNvSpPr/>
          <p:nvPr/>
        </p:nvSpPr>
        <p:spPr>
          <a:xfrm>
            <a:off x="45720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 → 56.3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chrF++ Singlish → English, after fine-tuning</a:t>
            </a:r>
            <a:endParaRPr lang="en-US" sz="1200" dirty="0"/>
          </a:p>
        </p:txBody>
      </p:sp>
      <p:sp>
        <p:nvSpPr>
          <p:cNvPr id="27" name="stat 2"/>
          <p:cNvSpPr/>
          <p:nvPr/>
        </p:nvSpPr>
        <p:spPr>
          <a:xfrm>
            <a:off x="333756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 → 51.1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chrF++ Singlish → Sinhala, after fine-tuning</a:t>
            </a:r>
            <a:endParaRPr lang="en-US" sz="1200" dirty="0"/>
          </a:p>
        </p:txBody>
      </p:sp>
      <p:sp>
        <p:nvSpPr>
          <p:cNvPr id="30" name="stat 3"/>
          <p:cNvSpPr/>
          <p:nvPr/>
        </p:nvSpPr>
        <p:spPr>
          <a:xfrm>
            <a:off x="621792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 → 43.7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ROUGE-L (translate-first)</a:t>
            </a:r>
            <a:endParaRPr lang="en-US" sz="1200" dirty="0"/>
          </a:p>
        </p:txBody>
      </p:sp>
      <p:sp>
        <p:nvSpPr>
          <p:cNvPr id="33" name="stat 4"/>
          <p:cNvSpPr/>
          <p:nvPr/>
        </p:nvSpPr>
        <p:spPr>
          <a:xfrm>
            <a:off x="909828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116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32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action-item F1 (intent)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split: 5 recordings, 95 utterances; the test split is scored once at the end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Transcript Cleaner, Cross-Lingual Renderer and Summariser</a:t>
            </a:r>
            <a:endParaRPr lang="en-US" sz="2800" dirty="0"/>
          </a:p>
        </p:txBody>
      </p:sp>
      <p:sp>
        <p:nvSpPr>
          <p:cNvPr id="3" name="User requirements addressed"/>
          <p:cNvSpPr/>
          <p:nvPr/>
        </p:nvSpPr>
        <p:spPr>
          <a:xfrm>
            <a:off x="45720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requirements addressed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2140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word-for-word record in clean English or Sinhala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summary with structured action items: intent, owner, receiver, deadline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Sinhala commitments (“mama call karannam”, “balamu”) kept, not lost in translation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Controllable output language; an offline CPU pipeline is built (int8 + 4-bit GGUF), laptop run pending</a:t>
            </a:r>
            <a:endParaRPr lang="en-US" sz="1400" dirty="0"/>
          </a:p>
        </p:txBody>
      </p:sp>
      <p:sp>
        <p:nvSpPr>
          <p:cNvPr id="8" name="Design excellence / contribution"/>
          <p:cNvSpPr/>
          <p:nvPr/>
        </p:nvSpPr>
        <p:spPr>
          <a:xfrm>
            <a:off x="429768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480560" y="1463040"/>
            <a:ext cx="411480" cy="41148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excellence / contribution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2140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conversational Sinhala-English parallel and summarisation corpus; existing resources are formal written text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Compared summarising directly vs translate-first: translate-first wins on every measure and trains ~2.5× faster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 that copies numbers from the source and repairs split Sinhala conjuncts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chrF++ as the headline metric, because Sinhala is morphologically rich</a:t>
            </a:r>
            <a:endParaRPr lang="en-US" sz="1400" dirty="0"/>
          </a:p>
        </p:txBody>
      </p:sp>
      <p:sp>
        <p:nvSpPr>
          <p:cNvPr id="13" name="User feedback on the prototype"/>
          <p:cNvSpPr/>
          <p:nvPr/>
        </p:nvSpPr>
        <p:spPr>
          <a:xfrm>
            <a:off x="813816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feedback frame"/>
          <p:cNvSpPr/>
          <p:nvPr/>
        </p:nvSpPr>
        <p:spPr>
          <a:xfrm>
            <a:off x="813816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9E4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8321040" y="1463040"/>
            <a:ext cx="411480" cy="41148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on the prototype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internal testing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304288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on development output: an NIC's digits were rewritten → numbers are now copied from the source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Spoken Sinhala digits were invented → converted to numerals before translation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Sinhala conjuncts → 28 of 29 affected lines repaired, no correct line changed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Open: a name that is also a word gets translated (චතුර → “square”)</a:t>
            </a:r>
            <a:endParaRPr lang="en-US" sz="1400" dirty="0"/>
          </a:p>
        </p:txBody>
      </p:sp>
      <p:sp>
        <p:nvSpPr>
          <p:cNvPr id="20" name="TO FILL"/>
          <p:cNvSpPr/>
          <p:nvPr/>
        </p:nvSpPr>
        <p:spPr>
          <a:xfrm>
            <a:off x="8138160" y="55778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1B8"/>
          </a:solidFill>
          <a:ln w="12700">
            <a:solidFill>
              <a:srgbClr val="E0B4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275320" y="5577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 feedback from real users / supervisor]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C3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11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D.M.S.D. Dissanayake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IT23172678</a:t>
            </a:r>
            <a:endParaRPr lang="en-US" sz="1600" dirty="0"/>
          </a:p>
        </p:txBody>
      </p:sp>
      <p:sp>
        <p:nvSpPr>
          <p:cNvPr id="6" name="photo cage"/>
          <p:cNvSpPr/>
          <p:nvPr/>
        </p:nvSpPr>
        <p:spPr>
          <a:xfrm>
            <a:off x="8732520" y="411480"/>
            <a:ext cx="3017520" cy="3108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15400" y="41148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professional photo here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of the individual component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0896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 for Real-World Sinhala–English Conversations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Specialization: </a:t>
            </a:r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cluster: </a:t>
            </a:r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of Excellence for AI (CoEAI)</a:t>
            </a:r>
            <a:endParaRPr lang="en-US" sz="18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 for Real-World Sinhala–English Conversations</a:t>
            </a:r>
            <a:endParaRPr lang="en-US" sz="2800" dirty="0"/>
          </a:p>
        </p:txBody>
      </p:sp>
      <p:sp>
        <p:nvSpPr>
          <p:cNvPr id="3" name="sub-problem"/>
          <p:cNvSpPr/>
          <p:nvPr/>
        </p:nvSpPr>
        <p:spPr>
          <a:xfrm>
            <a:off x="457200" y="12344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8EDE2"/>
          </a:solidFill>
          <a:ln w="12700">
            <a:solidFill>
              <a:srgbClr val="F8ED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solution addresses the sub-problem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pre-trained diarizer scores 1.66% error on clean Singlish audio but 34.63% on real, overlapping, multi-speaker audio, and under-counts speakers. The difficulty is overlap, back-channels and speaker count, not language switching.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7" name="flow 1"/>
          <p:cNvSpPr/>
          <p:nvPr/>
        </p:nvSpPr>
        <p:spPr>
          <a:xfrm>
            <a:off x="457200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or microphone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5792" y="3383280"/>
            <a:ext cx="201168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</p:sp>
      <p:sp>
        <p:nvSpPr>
          <p:cNvPr id="10" name="flow 2"/>
          <p:cNvSpPr/>
          <p:nvPr/>
        </p:nvSpPr>
        <p:spPr>
          <a:xfrm>
            <a:off x="2374392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7544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segmentation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2984" y="3383280"/>
            <a:ext cx="201168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</p:sp>
      <p:sp>
        <p:nvSpPr>
          <p:cNvPr id="13" name="flow 3"/>
          <p:cNvSpPr/>
          <p:nvPr/>
        </p:nvSpPr>
        <p:spPr>
          <a:xfrm>
            <a:off x="4291584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64736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 embeddings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0176" y="3383280"/>
            <a:ext cx="201168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</p:sp>
      <p:sp>
        <p:nvSpPr>
          <p:cNvPr id="16" name="flow 4"/>
          <p:cNvSpPr/>
          <p:nvPr/>
        </p:nvSpPr>
        <p:spPr>
          <a:xfrm>
            <a:off x="6208776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into speakers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97368" y="3383280"/>
            <a:ext cx="201168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</p:sp>
      <p:sp>
        <p:nvSpPr>
          <p:cNvPr id="19" name="flow 5"/>
          <p:cNvSpPr/>
          <p:nvPr/>
        </p:nvSpPr>
        <p:spPr>
          <a:xfrm>
            <a:off x="8125968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99120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 turns (RTTM) + overlap flags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14560" y="3383280"/>
            <a:ext cx="201168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</p:sp>
      <p:sp>
        <p:nvSpPr>
          <p:cNvPr id="22" name="flow 6"/>
          <p:cNvSpPr/>
          <p:nvPr/>
        </p:nvSpPr>
        <p:spPr>
          <a:xfrm>
            <a:off x="10043160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16312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fused with C1 by time</a:t>
            </a:r>
            <a:endParaRPr lang="en-US" sz="1200" dirty="0"/>
          </a:p>
        </p:txBody>
      </p:sp>
      <p:sp>
        <p:nvSpPr>
          <p:cNvPr id="24" name="stat 1"/>
          <p:cNvSpPr/>
          <p:nvPr/>
        </p:nvSpPr>
        <p:spPr>
          <a:xfrm>
            <a:off x="45720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diarization error, 8 unseen real panel clips (32.3 min)</a:t>
            </a:r>
            <a:endParaRPr lang="en-US" sz="1200" dirty="0"/>
          </a:p>
        </p:txBody>
      </p:sp>
      <p:sp>
        <p:nvSpPr>
          <p:cNvPr id="27" name="stat 2"/>
          <p:cNvSpPr/>
          <p:nvPr/>
        </p:nvSpPr>
        <p:spPr>
          <a:xfrm>
            <a:off x="333756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frozen TEST set</a:t>
            </a:r>
            <a:endParaRPr lang="en-US" sz="1200" dirty="0"/>
          </a:p>
        </p:txBody>
      </p:sp>
      <p:sp>
        <p:nvSpPr>
          <p:cNvPr id="30" name="stat 3"/>
          <p:cNvSpPr/>
          <p:nvPr/>
        </p:nvSpPr>
        <p:spPr>
          <a:xfrm>
            <a:off x="621792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~1×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time on a laptop CPU, offline, same accuracy as GPU</a:t>
            </a:r>
            <a:endParaRPr lang="en-US" sz="1200" dirty="0"/>
          </a:p>
        </p:txBody>
      </p:sp>
      <p:sp>
        <p:nvSpPr>
          <p:cNvPr id="33" name="stat 4"/>
          <p:cNvSpPr/>
          <p:nvPr/>
        </p:nvSpPr>
        <p:spPr>
          <a:xfrm>
            <a:off x="909828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116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experiments, 3 seeds per arm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DER, protocol v1, collar 0.0, pooled; model: pyannote speaker-diarization-community-1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 for Real-World Sinhala–English Conversations</a:t>
            </a:r>
            <a:endParaRPr lang="en-US" sz="2800" dirty="0"/>
          </a:p>
        </p:txBody>
      </p:sp>
      <p:sp>
        <p:nvSpPr>
          <p:cNvPr id="3" name="User requirements addressed"/>
          <p:cNvSpPr/>
          <p:nvPr/>
        </p:nvSpPr>
        <p:spPr>
          <a:xfrm>
            <a:off x="45720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requirements addressed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2140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spoke when” for a recording or the microphone, with talk time and overlap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 turns in the shared contract {speaker_id, start, end, overlap_flag} for fusion with C1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offline on an ordinary laptop CPU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benchmark view: errors split into missed speech, false alarm and wrong person</a:t>
            </a:r>
            <a:endParaRPr lang="en-US" sz="1400" dirty="0"/>
          </a:p>
        </p:txBody>
      </p:sp>
      <p:sp>
        <p:nvSpPr>
          <p:cNvPr id="8" name="Design excellence / contribution"/>
          <p:cNvSpPr/>
          <p:nvPr/>
        </p:nvSpPr>
        <p:spPr>
          <a:xfrm>
            <a:off x="429768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480560" y="1463040"/>
            <a:ext cx="411480" cy="4114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excellence / contribution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2140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Sinhala-English conversational diarization benchmark, annotated for overlap and back-channels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rule written down before the experiment ran; a frozen test set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Showed fine-tuning learns the training speakers, not diarization skill, so the untouched model ships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Showed errors are not concentrated at language switches (X2: not supported)</a:t>
            </a:r>
            <a:endParaRPr lang="en-US" sz="1400" dirty="0"/>
          </a:p>
        </p:txBody>
      </p:sp>
      <p:sp>
        <p:nvSpPr>
          <p:cNvPr id="13" name="User feedback on the prototype"/>
          <p:cNvSpPr/>
          <p:nvPr/>
        </p:nvSpPr>
        <p:spPr>
          <a:xfrm>
            <a:off x="813816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feedback frame"/>
          <p:cNvSpPr/>
          <p:nvPr/>
        </p:nvSpPr>
        <p:spPr>
          <a:xfrm>
            <a:off x="813816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9E4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8321040" y="1463040"/>
            <a:ext cx="411480" cy="4114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on the prototype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internal testing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304288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app testing: the live chunked mode scored 40.7% vs 21.3% for whole recordings → kept as experimental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faster sliding-window step raised error from 15.9% to 23.7% → rejected, default kept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error is mostly speaker confusion → next: stronger segmentation front-end, larger test set</a:t>
            </a:r>
            <a:endParaRPr lang="en-US" sz="1400" dirty="0"/>
          </a:p>
        </p:txBody>
      </p:sp>
      <p:sp>
        <p:nvSpPr>
          <p:cNvPr id="20" name="TO FILL"/>
          <p:cNvSpPr/>
          <p:nvPr/>
        </p:nvSpPr>
        <p:spPr>
          <a:xfrm>
            <a:off x="8138160" y="55778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1B8"/>
          </a:solidFill>
          <a:ln w="12700">
            <a:solidFill>
              <a:srgbClr val="E0B4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275320" y="5577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 feedback from real users / supervisor]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C4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11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O.S. Jayathilaka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IT23247390</a:t>
            </a:r>
            <a:endParaRPr lang="en-US" sz="1600" dirty="0"/>
          </a:p>
        </p:txBody>
      </p:sp>
      <p:sp>
        <p:nvSpPr>
          <p:cNvPr id="6" name="photo cage"/>
          <p:cNvSpPr/>
          <p:nvPr/>
        </p:nvSpPr>
        <p:spPr>
          <a:xfrm>
            <a:off x="8732520" y="411480"/>
            <a:ext cx="3017520" cy="3108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15400" y="41148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professional photo here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of the individual component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0896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PII Detection and Redaction for Sinhala-English Code-Mixed Text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Specialization: </a:t>
            </a:r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cluster: </a:t>
            </a:r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of Excellence for AI (CoEAI)</a:t>
            </a:r>
            <a:endParaRPr lang="en-US" sz="18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PII Detection and Redaction for Sinhala-English Code-Mixed Text</a:t>
            </a:r>
            <a:endParaRPr lang="en-US" sz="2800" dirty="0"/>
          </a:p>
        </p:txBody>
      </p:sp>
      <p:sp>
        <p:nvSpPr>
          <p:cNvPr id="3" name="sub-problem"/>
          <p:cNvSpPr/>
          <p:nvPr/>
        </p:nvSpPr>
        <p:spPr>
          <a:xfrm>
            <a:off x="457200" y="12344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7E4E8"/>
          </a:solidFill>
          <a:ln w="12700">
            <a:solidFill>
              <a:srgbClr val="F7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solution addresses the sub-problem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must be shared without personal data, but English tools miss Sinhala-script names, romanised names and Sri Lankan NIC formats: Microsoft Presidio finds 3 of 96 Sinhala-script identifiers. Redacting “Fernando” but not “ප්‍රනාන්දු” leaves the person identifiable.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7" name="flow 1"/>
          <p:cNvSpPr/>
          <p:nvPr/>
        </p:nvSpPr>
        <p:spPr>
          <a:xfrm>
            <a:off x="457200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record and summary (C2)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5792" y="3383280"/>
            <a:ext cx="201168" cy="0"/>
          </a:xfrm>
          <a:prstGeom prst="line">
            <a:avLst/>
          </a:prstGeom>
          <a:noFill/>
          <a:ln w="22225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10" name="flow 2"/>
          <p:cNvSpPr/>
          <p:nvPr/>
        </p:nvSpPr>
        <p:spPr>
          <a:xfrm>
            <a:off x="2374392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7544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NIC, phone, account, date of birth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2984" y="3383280"/>
            <a:ext cx="201168" cy="0"/>
          </a:xfrm>
          <a:prstGeom prst="line">
            <a:avLst/>
          </a:prstGeom>
          <a:noFill/>
          <a:ln w="22225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13" name="flow 3"/>
          <p:cNvSpPr/>
          <p:nvPr/>
        </p:nvSpPr>
        <p:spPr>
          <a:xfrm>
            <a:off x="4291584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64736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XLM-RoBERTa: names, addresses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0176" y="3383280"/>
            <a:ext cx="201168" cy="0"/>
          </a:xfrm>
          <a:prstGeom prst="line">
            <a:avLst/>
          </a:prstGeom>
          <a:noFill/>
          <a:ln w="22225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16" name="flow 4"/>
          <p:cNvSpPr/>
          <p:nvPr/>
        </p:nvSpPr>
        <p:spPr>
          <a:xfrm>
            <a:off x="6208776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Cross-script name and address linking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97368" y="3383280"/>
            <a:ext cx="201168" cy="0"/>
          </a:xfrm>
          <a:prstGeom prst="line">
            <a:avLst/>
          </a:prstGeom>
          <a:noFill/>
          <a:ln w="22225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19" name="flow 5"/>
          <p:cNvSpPr/>
          <p:nvPr/>
        </p:nvSpPr>
        <p:spPr>
          <a:xfrm>
            <a:off x="8125968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99120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placeholder per person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14560" y="3383280"/>
            <a:ext cx="201168" cy="0"/>
          </a:xfrm>
          <a:prstGeom prst="line">
            <a:avLst/>
          </a:prstGeom>
          <a:noFill/>
          <a:ln w="22225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2" name="flow 6"/>
          <p:cNvSpPr/>
          <p:nvPr/>
        </p:nvSpPr>
        <p:spPr>
          <a:xfrm>
            <a:off x="10043160" y="2880360"/>
            <a:ext cx="1661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16312" y="2880360"/>
            <a:ext cx="1514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Redacted text + secure re-ID map</a:t>
            </a:r>
            <a:endParaRPr lang="en-US" sz="1200" dirty="0"/>
          </a:p>
        </p:txBody>
      </p:sp>
      <p:sp>
        <p:nvSpPr>
          <p:cNvPr id="24" name="stat 1"/>
          <p:cNvSpPr/>
          <p:nvPr/>
        </p:nvSpPr>
        <p:spPr>
          <a:xfrm>
            <a:off x="45720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 → 0.85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 F1, 5 held-out real recordings</a:t>
            </a:r>
            <a:endParaRPr lang="en-US" sz="1200" dirty="0"/>
          </a:p>
        </p:txBody>
      </p:sp>
      <p:sp>
        <p:nvSpPr>
          <p:cNvPr id="27" name="stat 2"/>
          <p:cNvSpPr/>
          <p:nvPr/>
        </p:nvSpPr>
        <p:spPr>
          <a:xfrm>
            <a:off x="333756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recall, the primary metric (baseline 0.17)</a:t>
            </a:r>
            <a:endParaRPr lang="en-US" sz="1200" dirty="0"/>
          </a:p>
        </p:txBody>
      </p:sp>
      <p:sp>
        <p:nvSpPr>
          <p:cNvPr id="30" name="stat 3"/>
          <p:cNvSpPr/>
          <p:nvPr/>
        </p:nvSpPr>
        <p:spPr>
          <a:xfrm>
            <a:off x="621792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personal data fully hidden; none fully exposed</a:t>
            </a:r>
            <a:endParaRPr lang="en-US" sz="1200" dirty="0"/>
          </a:p>
        </p:txBody>
      </p:sp>
      <p:sp>
        <p:nvSpPr>
          <p:cNvPr id="33" name="stat 4"/>
          <p:cNvSpPr/>
          <p:nvPr/>
        </p:nvSpPr>
        <p:spPr>
          <a:xfrm>
            <a:off x="9098280" y="4206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1160" y="4315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50109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cross-script linking accuracy (target 0.85)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span matching; 289 gold spans; runs offline: 0 network attempts, 99 ms per document, ~1 GB memory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PII Detection and Redaction for Sinhala-English Code-Mixed Text</a:t>
            </a:r>
            <a:endParaRPr lang="en-US" sz="2800" dirty="0"/>
          </a:p>
        </p:txBody>
      </p:sp>
      <p:sp>
        <p:nvSpPr>
          <p:cNvPr id="3" name="User requirements addressed"/>
          <p:cNvSpPr/>
          <p:nvPr/>
        </p:nvSpPr>
        <p:spPr>
          <a:xfrm>
            <a:off x="45720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requirements addressed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2140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names, NIC, phone, address, account and date of birth in both scripts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person gets the same placeholder across transcript, record and summary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Re-identification map stored separately and refused by version control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offline on a laptop CPU; the model was also trained locally, so data never left the machine</a:t>
            </a:r>
            <a:endParaRPr lang="en-US" sz="1400" dirty="0"/>
          </a:p>
        </p:txBody>
      </p:sp>
      <p:sp>
        <p:nvSpPr>
          <p:cNvPr id="8" name="Design excellence / contribution"/>
          <p:cNvSpPr/>
          <p:nvPr/>
        </p:nvSpPr>
        <p:spPr>
          <a:xfrm>
            <a:off x="429768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480560" y="1463040"/>
            <a:ext cx="411480" cy="411480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excellence / contribution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2140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PII detection system and PII-annotated dataset for Sinhala-English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Cross-script entity resolution by transliteration + phonetic matching: never merged two different people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written for spoken forms (“9 5 3 2 0 1 4 5 6 v”, Sinhala number words)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Generalises: 0.96 recall on names never seen in training</a:t>
            </a:r>
            <a:endParaRPr lang="en-US" sz="1400" dirty="0"/>
          </a:p>
        </p:txBody>
      </p:sp>
      <p:sp>
        <p:nvSpPr>
          <p:cNvPr id="13" name="User feedback on the prototype"/>
          <p:cNvSpPr/>
          <p:nvPr/>
        </p:nvSpPr>
        <p:spPr>
          <a:xfrm>
            <a:off x="813816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feedback frame"/>
          <p:cNvSpPr/>
          <p:nvPr/>
        </p:nvSpPr>
        <p:spPr>
          <a:xfrm>
            <a:off x="8138160" y="128016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9E4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8321040" y="1463040"/>
            <a:ext cx="411480" cy="411480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389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on the prototype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internal testing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304288"/>
            <a:ext cx="3200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600-word stress call: names late in long texts were missed → long texts are now read in windows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15-minute test call: “eka” read as a digit, a town taken as a person, old and new NIC split → fixed with general rules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Remaining: “Senuli” and “Sunil” share a placeholder (same consonants)</a:t>
            </a:r>
            <a:endParaRPr lang="en-US" sz="1400" dirty="0"/>
          </a:p>
        </p:txBody>
      </p:sp>
      <p:sp>
        <p:nvSpPr>
          <p:cNvPr id="20" name="TO FILL"/>
          <p:cNvSpPr/>
          <p:nvPr/>
        </p:nvSpPr>
        <p:spPr>
          <a:xfrm>
            <a:off x="8138160" y="55778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FF1B8"/>
          </a:solidFill>
          <a:ln w="12700">
            <a:solidFill>
              <a:srgbClr val="E0B4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275320" y="5577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 feedback from real users / supervisor]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Privacy-Preserving, Offline Sinhala-English Code-Mixed Conversation Understanding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and sustainability of the solution</a:t>
            </a:r>
            <a:endParaRPr lang="en-US" sz="1800" dirty="0"/>
          </a:p>
        </p:txBody>
      </p:sp>
      <p:sp>
        <p:nvSpPr>
          <p:cNvPr id="4" name="Customer persona"/>
          <p:cNvSpPr/>
          <p:nvPr/>
        </p:nvSpPr>
        <p:spPr>
          <a:xfrm>
            <a:off x="457200" y="17830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1B2A72"/>
          </a:solidFill>
          <a:ln w="12700">
            <a:solidFill>
              <a:srgbClr val="1B2A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persona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associate at a Colombo law firm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bilingual client meetings daily; privilege rules forbid uploading audio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Spends hours writing minutes and blacking out names before files are shared</a:t>
            </a:r>
            <a:endParaRPr lang="en-US" sz="1300" dirty="0"/>
          </a:p>
        </p:txBody>
      </p:sp>
      <p:sp>
        <p:nvSpPr>
          <p:cNvPr id="9" name="Market size"/>
          <p:cNvSpPr/>
          <p:nvPr/>
        </p:nvSpPr>
        <p:spPr>
          <a:xfrm>
            <a:off x="6217920" y="17830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1B2A72"/>
          </a:solidFill>
          <a:ln w="12700">
            <a:solidFill>
              <a:srgbClr val="1B2A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Organisations that cannot use cloud speech services: law firms, banks and insurers, hospitals, law enforcement, government and corporate boardrooms</a:t>
            </a:r>
            <a:endParaRPr lang="en-US" sz="1300" dirty="0"/>
          </a:p>
        </p:txBody>
      </p:sp>
      <p:sp>
        <p:nvSpPr>
          <p:cNvPr id="14" name="What is unique"/>
          <p:cNvSpPr/>
          <p:nvPr/>
        </p:nvSpPr>
        <p:spPr>
          <a:xfrm>
            <a:off x="457200" y="4023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1B2A72"/>
          </a:solidFill>
          <a:ln w="12700">
            <a:solidFill>
              <a:srgbClr val="1B2A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unique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548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offline system that transcribes, attributes speakers, translates, summarises and redacts Sinhala-English speech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an ordinary 8 GB laptop; no audio or text leaves the device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PDPA No. 9 of 2022, which names anonymisation as a safeguard</a:t>
            </a:r>
            <a:endParaRPr lang="en-US" sz="1300" dirty="0"/>
          </a:p>
        </p:txBody>
      </p:sp>
      <p:sp>
        <p:nvSpPr>
          <p:cNvPr id="19" name="How the cost is recovered"/>
          <p:cNvSpPr/>
          <p:nvPr/>
        </p:nvSpPr>
        <p:spPr>
          <a:xfrm>
            <a:off x="6217920" y="4023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6400800" y="4206240"/>
            <a:ext cx="411480" cy="411480"/>
          </a:xfrm>
          <a:prstGeom prst="ellipse">
            <a:avLst/>
          </a:prstGeom>
          <a:solidFill>
            <a:srgbClr val="1B2A72"/>
          </a:solidFill>
          <a:ln w="12700">
            <a:solidFill>
              <a:srgbClr val="1B2A7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cost is recovered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548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licence per organisation or per seat, with annual support and model updates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adaptation to a client's domain vocabulary (legal, medical, banking)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pilot at one institution to prove value</a:t>
            </a:r>
            <a:endParaRPr lang="en-US" sz="1300" dirty="0"/>
          </a:p>
        </p:txBody>
      </p:sp>
      <p:sp>
        <p:nvSpPr>
          <p:cNvPr id="24" name="TO FILL"/>
          <p:cNvSpPr/>
          <p:nvPr/>
        </p:nvSpPr>
        <p:spPr>
          <a:xfrm>
            <a:off x="6446520" y="32004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FF1B8"/>
          </a:solidFill>
          <a:ln w="12700">
            <a:solidFill>
              <a:srgbClr val="E0B40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583680" y="3200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 a sourced market-size figure and cite it]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1D1D1F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J26-DS-313 PP1</dc:title>
  <dc:subject>PptxGenJS Presentation</dc:subject>
  <dc:creator>J26-DS-313</dc:creator>
  <cp:lastModifiedBy>J26-DS-313</cp:lastModifiedBy>
  <cp:revision>1</cp:revision>
  <dcterms:created xsi:type="dcterms:W3CDTF">2026-10-17T17:02:16Z</dcterms:created>
  <dcterms:modified xsi:type="dcterms:W3CDTF">2026-10-17T17:02:16Z</dcterms:modified>
</cp:coreProperties>
</file>